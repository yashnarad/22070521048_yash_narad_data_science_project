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7"/>
  </p:notesMasterIdLst>
  <p:handoutMasterIdLst>
    <p:handoutMasterId r:id="rId18"/>
  </p:handoutMasterIdLst>
  <p:sldIdLst>
    <p:sldId id="256" r:id="rId5"/>
    <p:sldId id="257" r:id="rId6"/>
    <p:sldId id="260" r:id="rId7"/>
    <p:sldId id="258" r:id="rId8"/>
    <p:sldId id="270" r:id="rId9"/>
    <p:sldId id="271" r:id="rId10"/>
    <p:sldId id="273" r:id="rId11"/>
    <p:sldId id="272" r:id="rId12"/>
    <p:sldId id="274" r:id="rId13"/>
    <p:sldId id="275" r:id="rId14"/>
    <p:sldId id="276"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9" d="100"/>
          <a:sy n="89" d="100"/>
        </p:scale>
        <p:origin x="432" y="5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10/31/2025</a:t>
            </a:fld>
            <a:endParaRPr lang="en-US" dirty="0"/>
          </a:p>
        </p:txBody>
      </p:sp>
      <p:sp>
        <p:nvSpPr>
          <p:cNvPr id="4" name="Footer Placeholder 3">
            <a:extLst>
              <a:ext uri="{FF2B5EF4-FFF2-40B4-BE49-F238E27FC236}">
                <a16:creationId xmlns:a16="http://schemas.microsoft.com/office/drawing/2014/main" xmlns=""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10/31/2025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xmlns=""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xmlns=""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xmlns=""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xmlns=""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xmlns=""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xmlns=""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xmlns=""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xmlns=""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xmlns=""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xmlns=""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xmlns=""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xmlns=""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smtClean="0"/>
              <a:t>Click to edit Master subtitle style</a:t>
            </a:r>
            <a:endParaRPr lang="en-US"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xmlns=""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xmlns=""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xmlns=""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xmlns=""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xmlns=""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xmlns=""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xmlns=""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xmlns=""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xmlns=""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xmlns=""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xmlns=""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xmlns=""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xmlns=""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xmlns=""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Click to edit Master text styles</a:t>
            </a:r>
          </a:p>
        </p:txBody>
      </p:sp>
      <p:sp>
        <p:nvSpPr>
          <p:cNvPr id="22" name="Slide Number Placeholder 4">
            <a:extLst>
              <a:ext uri="{FF2B5EF4-FFF2-40B4-BE49-F238E27FC236}">
                <a16:creationId xmlns:a16="http://schemas.microsoft.com/office/drawing/2014/main" xmlns=""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xmlns=""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xmlns=""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xmlns=""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xmlns=""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xmlns=""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xmlns=""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xmlns=""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xmlns=""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xmlns=""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xmlns=""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xmlns=""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xmlns=""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xmlns=""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xmlns=""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xmlns=""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Click to edit Master text styles</a:t>
            </a:r>
          </a:p>
        </p:txBody>
      </p:sp>
      <p:sp>
        <p:nvSpPr>
          <p:cNvPr id="35" name="Slide Number Placeholder 4">
            <a:extLst>
              <a:ext uri="{FF2B5EF4-FFF2-40B4-BE49-F238E27FC236}">
                <a16:creationId xmlns:a16="http://schemas.microsoft.com/office/drawing/2014/main" xmlns=""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xmlns=""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xmlns=""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xmlns=""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xmlns=""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xmlns=""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xmlns=""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xmlns=""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xmlns=""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xmlns=""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a:p>
            <a:pPr lvl="1"/>
            <a:r>
              <a:rPr lang="en-US" noProof="0" smtClean="0"/>
              <a:t>Second level</a:t>
            </a:r>
          </a:p>
          <a:p>
            <a:pPr lvl="2"/>
            <a:r>
              <a:rPr lang="en-US" noProof="0" smtClean="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xmlns=""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smtClean="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xmlns=""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xmlns=""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26" name="Text Placeholder 4">
            <a:extLst>
              <a:ext uri="{FF2B5EF4-FFF2-40B4-BE49-F238E27FC236}">
                <a16:creationId xmlns:a16="http://schemas.microsoft.com/office/drawing/2014/main" xmlns=""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27" name="Content Placeholder 3">
            <a:extLst>
              <a:ext uri="{FF2B5EF4-FFF2-40B4-BE49-F238E27FC236}">
                <a16:creationId xmlns:a16="http://schemas.microsoft.com/office/drawing/2014/main" xmlns=""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8" name="Content Placeholder 5">
            <a:extLst>
              <a:ext uri="{FF2B5EF4-FFF2-40B4-BE49-F238E27FC236}">
                <a16:creationId xmlns:a16="http://schemas.microsoft.com/office/drawing/2014/main" xmlns=""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xmlns=""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Content Placeholder 3">
            <a:extLst>
              <a:ext uri="{FF2B5EF4-FFF2-40B4-BE49-F238E27FC236}">
                <a16:creationId xmlns:a16="http://schemas.microsoft.com/office/drawing/2014/main" xmlns=""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xmlns=""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1" name="Picture Placeholder 8">
            <a:extLst>
              <a:ext uri="{FF2B5EF4-FFF2-40B4-BE49-F238E27FC236}">
                <a16:creationId xmlns:a16="http://schemas.microsoft.com/office/drawing/2014/main" xmlns=""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2" name="Picture Placeholder 8">
            <a:extLst>
              <a:ext uri="{FF2B5EF4-FFF2-40B4-BE49-F238E27FC236}">
                <a16:creationId xmlns:a16="http://schemas.microsoft.com/office/drawing/2014/main" xmlns=""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3" name="Picture Placeholder 8">
            <a:extLst>
              <a:ext uri="{FF2B5EF4-FFF2-40B4-BE49-F238E27FC236}">
                <a16:creationId xmlns:a16="http://schemas.microsoft.com/office/drawing/2014/main" xmlns=""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4" name="Picture Placeholder 8">
            <a:extLst>
              <a:ext uri="{FF2B5EF4-FFF2-40B4-BE49-F238E27FC236}">
                <a16:creationId xmlns:a16="http://schemas.microsoft.com/office/drawing/2014/main" xmlns=""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6" name="Text Placeholder 22">
            <a:extLst>
              <a:ext uri="{FF2B5EF4-FFF2-40B4-BE49-F238E27FC236}">
                <a16:creationId xmlns:a16="http://schemas.microsoft.com/office/drawing/2014/main" xmlns=""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7" name="Text Placeholder 22">
            <a:extLst>
              <a:ext uri="{FF2B5EF4-FFF2-40B4-BE49-F238E27FC236}">
                <a16:creationId xmlns:a16="http://schemas.microsoft.com/office/drawing/2014/main" xmlns=""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8" name="Text Placeholder 22">
            <a:extLst>
              <a:ext uri="{FF2B5EF4-FFF2-40B4-BE49-F238E27FC236}">
                <a16:creationId xmlns:a16="http://schemas.microsoft.com/office/drawing/2014/main" xmlns=""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9" name="Text Placeholder 22">
            <a:extLst>
              <a:ext uri="{FF2B5EF4-FFF2-40B4-BE49-F238E27FC236}">
                <a16:creationId xmlns:a16="http://schemas.microsoft.com/office/drawing/2014/main" xmlns=""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0" name="Text Placeholder 22">
            <a:extLst>
              <a:ext uri="{FF2B5EF4-FFF2-40B4-BE49-F238E27FC236}">
                <a16:creationId xmlns:a16="http://schemas.microsoft.com/office/drawing/2014/main" xmlns=""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cxnSp>
        <p:nvCxnSpPr>
          <p:cNvPr id="7" name="Straight Connector 6">
            <a:extLst>
              <a:ext uri="{FF2B5EF4-FFF2-40B4-BE49-F238E27FC236}">
                <a16:creationId xmlns:a16="http://schemas.microsoft.com/office/drawing/2014/main" xmlns=""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xmlns=""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xmlns=""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xmlns=""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xmlns=""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7" name="Text Placeholder 22">
            <a:extLst>
              <a:ext uri="{FF2B5EF4-FFF2-40B4-BE49-F238E27FC236}">
                <a16:creationId xmlns:a16="http://schemas.microsoft.com/office/drawing/2014/main" xmlns=""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xmlns=""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xmlns=""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xmlns=""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1" name="Text Placeholder 3">
            <a:extLst>
              <a:ext uri="{FF2B5EF4-FFF2-40B4-BE49-F238E27FC236}">
                <a16:creationId xmlns:a16="http://schemas.microsoft.com/office/drawing/2014/main" xmlns=""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xmlns=""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22" name="Content Placeholder 2">
            <a:extLst>
              <a:ext uri="{FF2B5EF4-FFF2-40B4-BE49-F238E27FC236}">
                <a16:creationId xmlns:a16="http://schemas.microsoft.com/office/drawing/2014/main" xmlns=""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xmlns=""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xmlns=""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xmlns=""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xmlns=""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xmlns=""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xmlns=""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xmlns=""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xmlns=""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xmlns=""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xmlns=""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xmlns=""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xmlns=""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xmlns=""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xmlns=""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xmlns=""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xmlns=""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xmlns=""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xmlns=""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xmlns=""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Slide Number Placeholder 5">
            <a:extLst>
              <a:ext uri="{FF2B5EF4-FFF2-40B4-BE49-F238E27FC236}">
                <a16:creationId xmlns:a16="http://schemas.microsoft.com/office/drawing/2014/main" xmlns=""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xmlns=""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xmlns=""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xmlns=""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xmlns=""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xmlns=""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xmlns=""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xmlns=""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xmlns=""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xmlns=""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xmlns=""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xmlns=""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xmlns=""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xmlns=""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xmlns=""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2BE5BF-9922-45FB-8F3F-4446D40A051B}"/>
              </a:ext>
            </a:extLst>
          </p:cNvPr>
          <p:cNvSpPr>
            <a:spLocks noGrp="1"/>
          </p:cNvSpPr>
          <p:nvPr>
            <p:ph type="ctrTitle"/>
          </p:nvPr>
        </p:nvSpPr>
        <p:spPr>
          <a:xfrm>
            <a:off x="2761488" y="2185416"/>
            <a:ext cx="7077456" cy="1243584"/>
          </a:xfrm>
        </p:spPr>
        <p:txBody>
          <a:bodyPr/>
          <a:lstStyle/>
          <a:p>
            <a:pPr algn="ctr"/>
            <a:r>
              <a:rPr lang="en-US" dirty="0" smtClean="0"/>
              <a:t>DATA SCIENCE PROJECT </a:t>
            </a:r>
            <a:endParaRPr lang="en-US" dirty="0"/>
          </a:p>
        </p:txBody>
      </p:sp>
      <p:sp>
        <p:nvSpPr>
          <p:cNvPr id="3" name="Subtitle 2">
            <a:extLst>
              <a:ext uri="{FF2B5EF4-FFF2-40B4-BE49-F238E27FC236}">
                <a16:creationId xmlns:a16="http://schemas.microsoft.com/office/drawing/2014/main" xmlns="" id="{0D537F64-4C96-4AA8-BB21-E8053A3186DD}"/>
              </a:ext>
            </a:extLst>
          </p:cNvPr>
          <p:cNvSpPr>
            <a:spLocks noGrp="1"/>
          </p:cNvSpPr>
          <p:nvPr>
            <p:ph type="subTitle" idx="1"/>
          </p:nvPr>
        </p:nvSpPr>
        <p:spPr>
          <a:xfrm>
            <a:off x="2915724" y="3611439"/>
            <a:ext cx="7077456" cy="1302083"/>
          </a:xfrm>
        </p:spPr>
        <p:txBody>
          <a:bodyPr>
            <a:normAutofit fontScale="92500" lnSpcReduction="10000"/>
          </a:bodyPr>
          <a:lstStyle/>
          <a:p>
            <a:pPr marL="0" indent="0">
              <a:buNone/>
            </a:pPr>
            <a:r>
              <a:rPr lang="en-US" dirty="0" smtClean="0"/>
              <a:t>P</a:t>
            </a:r>
            <a:r>
              <a:rPr lang="en-US" dirty="0" smtClean="0">
                <a:latin typeface="Clear sans" panose="020B0604020202020204" charset="0"/>
                <a:cs typeface="Clear sans" panose="020B0604020202020204" charset="0"/>
              </a:rPr>
              <a:t>RESENTED BY: </a:t>
            </a:r>
          </a:p>
          <a:p>
            <a:pPr marL="0" indent="0">
              <a:buNone/>
            </a:pPr>
            <a:r>
              <a:rPr lang="en-US" dirty="0" smtClean="0">
                <a:latin typeface="Clear sans" panose="020B0604020202020204" charset="0"/>
                <a:cs typeface="Clear sans" panose="020B0604020202020204" charset="0"/>
              </a:rPr>
              <a:t>YASH NARAD </a:t>
            </a:r>
          </a:p>
          <a:p>
            <a:pPr marL="0" indent="0">
              <a:buNone/>
            </a:pPr>
            <a:r>
              <a:rPr lang="en-US" dirty="0" smtClean="0">
                <a:latin typeface="Clear sans" panose="020B0604020202020204" charset="0"/>
                <a:cs typeface="Clear sans" panose="020B0604020202020204" charset="0"/>
              </a:rPr>
              <a:t>SECTION A 7</a:t>
            </a:r>
            <a:r>
              <a:rPr lang="en-US" baseline="30000" dirty="0" smtClean="0">
                <a:latin typeface="Clear sans" panose="020B0604020202020204" charset="0"/>
                <a:cs typeface="Clear sans" panose="020B0604020202020204" charset="0"/>
              </a:rPr>
              <a:t>th</a:t>
            </a:r>
            <a:r>
              <a:rPr lang="en-US" dirty="0" smtClean="0">
                <a:latin typeface="Clear sans" panose="020B0604020202020204" charset="0"/>
                <a:cs typeface="Clear sans" panose="020B0604020202020204" charset="0"/>
              </a:rPr>
              <a:t> SEM</a:t>
            </a:r>
          </a:p>
          <a:p>
            <a:pPr marL="0" indent="0">
              <a:buNone/>
            </a:pPr>
            <a:r>
              <a:rPr lang="en-US" dirty="0" smtClean="0">
                <a:latin typeface="Clear sans" panose="020B0604020202020204" charset="0"/>
                <a:cs typeface="Clear sans" panose="020B0604020202020204" charset="0"/>
              </a:rPr>
              <a:t>PRN:22070521048</a:t>
            </a:r>
          </a:p>
          <a:p>
            <a:pPr marL="0" indent="0">
              <a:buNone/>
            </a:pPr>
            <a:endParaRPr lang="en-US" dirty="0"/>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E3BD8413-C238-49D7-A4E1-E8FEF1811A0E}"/>
              </a:ext>
            </a:extLst>
          </p:cNvPr>
          <p:cNvSpPr>
            <a:spLocks noGrp="1"/>
          </p:cNvSpPr>
          <p:nvPr>
            <p:ph type="title"/>
          </p:nvPr>
        </p:nvSpPr>
        <p:spPr>
          <a:xfrm>
            <a:off x="2293434" y="533400"/>
            <a:ext cx="7781544" cy="675118"/>
          </a:xfrm>
        </p:spPr>
        <p:txBody>
          <a:bodyPr>
            <a:normAutofit fontScale="90000"/>
          </a:bodyPr>
          <a:lstStyle/>
          <a:p>
            <a:pPr algn="ctr"/>
            <a:r>
              <a:rPr lang="en-US" sz="4400" dirty="0" smtClean="0"/>
              <a:t>ABOUT DATASET </a:t>
            </a:r>
            <a:endParaRPr lang="en-US" sz="4400" dirty="0"/>
          </a:p>
        </p:txBody>
      </p:sp>
      <p:sp>
        <p:nvSpPr>
          <p:cNvPr id="2" name="Slide Number Placeholder 1">
            <a:extLst>
              <a:ext uri="{FF2B5EF4-FFF2-40B4-BE49-F238E27FC236}">
                <a16:creationId xmlns:a16="http://schemas.microsoft.com/office/drawing/2014/main" xmlns=""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7" name="Text Placeholder 4">
            <a:extLst>
              <a:ext uri="{FF2B5EF4-FFF2-40B4-BE49-F238E27FC236}">
                <a16:creationId xmlns:a16="http://schemas.microsoft.com/office/drawing/2014/main" xmlns="" id="{0A95F4DE-39B7-4CE2-BC1E-8B8AE662A895}"/>
              </a:ext>
            </a:extLst>
          </p:cNvPr>
          <p:cNvSpPr>
            <a:spLocks noGrp="1"/>
          </p:cNvSpPr>
          <p:nvPr>
            <p:ph type="body" idx="1"/>
          </p:nvPr>
        </p:nvSpPr>
        <p:spPr>
          <a:xfrm>
            <a:off x="609600" y="1096963"/>
            <a:ext cx="6919246" cy="5081646"/>
          </a:xfrm>
        </p:spPr>
        <p:txBody>
          <a:bodyPr>
            <a:normAutofit/>
          </a:bodyPr>
          <a:lstStyle/>
          <a:p>
            <a:r>
              <a:rPr lang="en-US" sz="1400" dirty="0" smtClean="0">
                <a:latin typeface="Clear sans" panose="020B0604020202020204" charset="0"/>
                <a:cs typeface="Clear sans" panose="020B0604020202020204" charset="0"/>
              </a:rPr>
              <a:t>DATASET </a:t>
            </a:r>
            <a:r>
              <a:rPr lang="en-US" sz="1400" dirty="0">
                <a:latin typeface="Clear sans" panose="020B0604020202020204" charset="0"/>
                <a:cs typeface="Clear sans" panose="020B0604020202020204" charset="0"/>
              </a:rPr>
              <a:t>OVERVIEW: </a:t>
            </a:r>
            <a:endParaRPr lang="en-US" sz="1400" dirty="0" smtClean="0">
              <a:latin typeface="Clear sans" panose="020B0604020202020204" charset="0"/>
              <a:cs typeface="Clear sans" panose="020B0604020202020204" charset="0"/>
            </a:endParaRPr>
          </a:p>
          <a:p>
            <a:r>
              <a:rPr lang="en-US" sz="1400" dirty="0" smtClean="0">
                <a:latin typeface="Clear sans" panose="020B0604020202020204" charset="0"/>
                <a:cs typeface="Clear sans" panose="020B0604020202020204" charset="0"/>
              </a:rPr>
              <a:t>INDIA'S </a:t>
            </a:r>
            <a:r>
              <a:rPr lang="en-US" sz="1400" dirty="0">
                <a:latin typeface="Clear sans" panose="020B0604020202020204" charset="0"/>
                <a:cs typeface="Clear sans" panose="020B0604020202020204" charset="0"/>
              </a:rPr>
              <a:t>ENERGY PROFILE (TIME SERIES </a:t>
            </a:r>
            <a:r>
              <a:rPr lang="en-US" sz="1400" dirty="0" smtClean="0">
                <a:latin typeface="Clear sans" panose="020B0604020202020204" charset="0"/>
                <a:cs typeface="Clear sans" panose="020B0604020202020204" charset="0"/>
              </a:rPr>
              <a:t>DATA)</a:t>
            </a:r>
          </a:p>
          <a:p>
            <a:r>
              <a:rPr lang="en-US" sz="1400" dirty="0" smtClean="0"/>
              <a:t>Goal</a:t>
            </a:r>
            <a:r>
              <a:rPr lang="en-US" sz="1400" dirty="0"/>
              <a:t>: Conduct a data-driven study on </a:t>
            </a:r>
            <a:r>
              <a:rPr lang="en-US" sz="1200" dirty="0"/>
              <a:t>India's </a:t>
            </a:r>
            <a:r>
              <a:rPr lang="en-US" sz="1200" dirty="0" smtClean="0"/>
              <a:t>Energy Requirements</a:t>
            </a:r>
            <a:r>
              <a:rPr lang="en-IN" sz="1200" dirty="0"/>
              <a:t> </a:t>
            </a:r>
            <a:r>
              <a:rPr lang="en-US" sz="1200" dirty="0" smtClean="0"/>
              <a:t>and </a:t>
            </a:r>
            <a:r>
              <a:rPr lang="en-US" sz="1200" dirty="0"/>
              <a:t>Availability</a:t>
            </a:r>
            <a:r>
              <a:rPr lang="en-US" sz="1400" dirty="0"/>
              <a:t> for predictive planning</a:t>
            </a:r>
            <a:r>
              <a:rPr lang="en-US" sz="1400" dirty="0" smtClean="0"/>
              <a:t>.</a:t>
            </a:r>
          </a:p>
          <a:p>
            <a:endParaRPr lang="en-US" sz="1400" dirty="0" smtClean="0"/>
          </a:p>
          <a:p>
            <a:endParaRPr lang="en-US" sz="1400" dirty="0" smtClean="0"/>
          </a:p>
          <a:p>
            <a:r>
              <a:rPr lang="en-US" sz="1400" dirty="0" smtClean="0"/>
              <a:t>DATA SCOPE &amp; PROVENANCE:</a:t>
            </a:r>
            <a:endParaRPr lang="en-US" sz="1400" dirty="0"/>
          </a:p>
          <a:p>
            <a:r>
              <a:rPr lang="en-US" sz="1400" dirty="0" smtClean="0"/>
              <a:t>•Source: open government data (</a:t>
            </a:r>
            <a:r>
              <a:rPr lang="en-US" sz="1400" dirty="0" err="1" smtClean="0"/>
              <a:t>ogd</a:t>
            </a:r>
            <a:r>
              <a:rPr lang="en-US" sz="1400" dirty="0" smtClean="0"/>
              <a:t>) platform </a:t>
            </a:r>
            <a:r>
              <a:rPr lang="en-US" sz="1400" dirty="0"/>
              <a:t>I</a:t>
            </a:r>
            <a:r>
              <a:rPr lang="en-US" sz="1400" dirty="0" smtClean="0"/>
              <a:t>ndia .</a:t>
            </a:r>
          </a:p>
          <a:p>
            <a:r>
              <a:rPr lang="en-US" sz="1400" dirty="0" smtClean="0"/>
              <a:t>•Source authority: ministry of power, government of </a:t>
            </a:r>
            <a:r>
              <a:rPr lang="en-US" sz="1400" dirty="0"/>
              <a:t>I</a:t>
            </a:r>
            <a:r>
              <a:rPr lang="en-US" sz="1400" dirty="0" smtClean="0"/>
              <a:t>ndia.</a:t>
            </a:r>
          </a:p>
          <a:p>
            <a:r>
              <a:rPr lang="en-US" sz="1400" dirty="0" smtClean="0"/>
              <a:t>•Dataset </a:t>
            </a:r>
            <a:r>
              <a:rPr lang="en-US" sz="1400" dirty="0"/>
              <a:t>N</a:t>
            </a:r>
            <a:r>
              <a:rPr lang="en-US" sz="1400" dirty="0" smtClean="0"/>
              <a:t>ame: energy requirement and availability.</a:t>
            </a:r>
          </a:p>
          <a:p>
            <a:r>
              <a:rPr lang="en-US" sz="1400" dirty="0" smtClean="0"/>
              <a:t>•Coverage: data for various states and </a:t>
            </a:r>
            <a:r>
              <a:rPr lang="en-US" sz="1400" dirty="0" err="1" smtClean="0"/>
              <a:t>uts</a:t>
            </a:r>
            <a:r>
              <a:rPr lang="en-US" sz="1400" dirty="0" smtClean="0"/>
              <a:t>.</a:t>
            </a:r>
          </a:p>
          <a:p>
            <a:r>
              <a:rPr lang="en-US" sz="1400" dirty="0" smtClean="0"/>
              <a:t>•Nature: time-series dataset, </a:t>
            </a:r>
            <a:r>
              <a:rPr lang="en-US" sz="1400" dirty="0"/>
              <a:t>capturing </a:t>
            </a:r>
            <a:r>
              <a:rPr lang="en-US" sz="1400" dirty="0" smtClean="0"/>
              <a:t>long-term trends and fluctuations.</a:t>
            </a:r>
          </a:p>
          <a:p>
            <a:endParaRPr lang="en-IN" sz="1400" dirty="0" smtClean="0"/>
          </a:p>
          <a:p>
            <a:endParaRPr lang="en-IN" sz="1400" dirty="0">
              <a:latin typeface="Clear sans" panose="020B0604020202020204" charset="0"/>
              <a:cs typeface="Clear sans" panose="020B0604020202020204" charset="0"/>
            </a:endParaRPr>
          </a:p>
          <a:p>
            <a:endParaRPr lang="en-US" dirty="0"/>
          </a:p>
        </p:txBody>
      </p:sp>
      <p:pic>
        <p:nvPicPr>
          <p:cNvPr id="8" name="Picture 7"/>
          <p:cNvPicPr>
            <a:picLocks noChangeAspect="1"/>
          </p:cNvPicPr>
          <p:nvPr/>
        </p:nvPicPr>
        <p:blipFill>
          <a:blip r:embed="rId2"/>
          <a:stretch>
            <a:fillRect/>
          </a:stretch>
        </p:blipFill>
        <p:spPr>
          <a:xfrm>
            <a:off x="6650764" y="1268339"/>
            <a:ext cx="5007836" cy="1065027"/>
          </a:xfrm>
          <a:prstGeom prst="rect">
            <a:avLst/>
          </a:prstGeom>
        </p:spPr>
      </p:pic>
      <p:pic>
        <p:nvPicPr>
          <p:cNvPr id="9" name="Picture 8"/>
          <p:cNvPicPr>
            <a:picLocks noChangeAspect="1"/>
          </p:cNvPicPr>
          <p:nvPr/>
        </p:nvPicPr>
        <p:blipFill>
          <a:blip r:embed="rId3"/>
          <a:stretch>
            <a:fillRect/>
          </a:stretch>
        </p:blipFill>
        <p:spPr>
          <a:xfrm>
            <a:off x="7503208" y="2544580"/>
            <a:ext cx="3831940" cy="3780020"/>
          </a:xfrm>
          <a:prstGeom prst="rect">
            <a:avLst/>
          </a:prstGeom>
        </p:spPr>
      </p:pic>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BD179B88-D43C-4A31-9A52-3498E9430782}"/>
              </a:ext>
            </a:extLst>
          </p:cNvPr>
          <p:cNvSpPr>
            <a:spLocks noGrp="1"/>
          </p:cNvSpPr>
          <p:nvPr>
            <p:ph type="title"/>
          </p:nvPr>
        </p:nvSpPr>
        <p:spPr>
          <a:xfrm>
            <a:off x="682752" y="528415"/>
            <a:ext cx="10826496" cy="859055"/>
          </a:xfrm>
        </p:spPr>
        <p:txBody>
          <a:bodyPr>
            <a:noAutofit/>
          </a:bodyPr>
          <a:lstStyle/>
          <a:p>
            <a:r>
              <a:rPr lang="en-US" sz="3500" dirty="0" smtClean="0">
                <a:latin typeface="Clear sans" panose="020B0604020202020204" charset="0"/>
                <a:cs typeface="Clear sans" panose="020B0604020202020204" charset="0"/>
              </a:rPr>
              <a:t>INSIGHTS FROM EXPLORATORY DATA ANALYSIS</a:t>
            </a:r>
            <a:endParaRPr lang="en-US" sz="3500" dirty="0">
              <a:latin typeface="Clear sans" panose="020B0604020202020204" charset="0"/>
              <a:cs typeface="Clear sans" panose="020B0604020202020204" charset="0"/>
            </a:endParaRPr>
          </a:p>
        </p:txBody>
      </p:sp>
      <p:sp>
        <p:nvSpPr>
          <p:cNvPr id="2" name="Slide Number Placeholder 1">
            <a:extLst>
              <a:ext uri="{FF2B5EF4-FFF2-40B4-BE49-F238E27FC236}">
                <a16:creationId xmlns:a16="http://schemas.microsoft.com/office/drawing/2014/main" xmlns=""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3" name="Text Placeholder 2"/>
          <p:cNvSpPr>
            <a:spLocks noGrp="1"/>
          </p:cNvSpPr>
          <p:nvPr>
            <p:ph type="body" idx="1"/>
          </p:nvPr>
        </p:nvSpPr>
        <p:spPr>
          <a:xfrm>
            <a:off x="729299" y="1481840"/>
            <a:ext cx="6850819" cy="2517592"/>
          </a:xfrm>
        </p:spPr>
        <p:txBody>
          <a:bodyPr>
            <a:normAutofit/>
          </a:bodyPr>
          <a:lstStyle/>
          <a:p>
            <a:r>
              <a:rPr lang="en-US" dirty="0" smtClean="0"/>
              <a:t>key findings from the dataset : </a:t>
            </a:r>
          </a:p>
          <a:p>
            <a:pPr marL="453390" lvl="1" indent="-226695">
              <a:lnSpc>
                <a:spcPts val="2940"/>
              </a:lnSpc>
              <a:buFont typeface="Arial"/>
              <a:buChar char="•"/>
            </a:pPr>
            <a:r>
              <a:rPr lang="en-US" sz="1400" dirty="0">
                <a:solidFill>
                  <a:srgbClr val="FBF1F2"/>
                </a:solidFill>
                <a:latin typeface="Clear sans" panose="020B0604020202020204" charset="0"/>
                <a:ea typeface="Clear Sans"/>
                <a:cs typeface="Clear sans" panose="020B0604020202020204" charset="0"/>
                <a:sym typeface="Clear Sans"/>
              </a:rPr>
              <a:t>Identified key trends and </a:t>
            </a:r>
            <a:r>
              <a:rPr lang="en-US" sz="1400" dirty="0" smtClean="0">
                <a:solidFill>
                  <a:srgbClr val="FBF1F2"/>
                </a:solidFill>
                <a:latin typeface="Clear sans" panose="020B0604020202020204" charset="0"/>
                <a:ea typeface="Clear Sans"/>
                <a:cs typeface="Clear sans" panose="020B0604020202020204" charset="0"/>
                <a:sym typeface="Clear Sans"/>
              </a:rPr>
              <a:t>patterns.</a:t>
            </a:r>
            <a:endParaRPr lang="en-US" sz="1400" dirty="0">
              <a:solidFill>
                <a:srgbClr val="FBF1F2"/>
              </a:solidFill>
              <a:latin typeface="Clear sans" panose="020B0604020202020204" charset="0"/>
              <a:ea typeface="Clear Sans"/>
              <a:cs typeface="Clear sans" panose="020B0604020202020204" charset="0"/>
              <a:sym typeface="Clear Sans"/>
            </a:endParaRPr>
          </a:p>
          <a:p>
            <a:pPr marL="453390" lvl="1" indent="-226695">
              <a:lnSpc>
                <a:spcPts val="2940"/>
              </a:lnSpc>
              <a:buFont typeface="Arial"/>
              <a:buChar char="•"/>
            </a:pPr>
            <a:r>
              <a:rPr lang="en-US" sz="1400" dirty="0">
                <a:solidFill>
                  <a:srgbClr val="FBF1F2"/>
                </a:solidFill>
                <a:latin typeface="Clear sans" panose="020B0604020202020204" charset="0"/>
                <a:ea typeface="Clear Sans"/>
                <a:cs typeface="Clear sans" panose="020B0604020202020204" charset="0"/>
                <a:sym typeface="Clear Sans"/>
              </a:rPr>
              <a:t>Analyzed correlations between </a:t>
            </a:r>
            <a:r>
              <a:rPr lang="en-US" sz="1400" dirty="0" smtClean="0">
                <a:solidFill>
                  <a:srgbClr val="FBF1F2"/>
                </a:solidFill>
                <a:latin typeface="Clear sans" panose="020B0604020202020204" charset="0"/>
                <a:ea typeface="Clear Sans"/>
                <a:cs typeface="Clear sans" panose="020B0604020202020204" charset="0"/>
                <a:sym typeface="Clear Sans"/>
              </a:rPr>
              <a:t>variables.</a:t>
            </a:r>
            <a:endParaRPr lang="en-US" sz="1400" dirty="0">
              <a:solidFill>
                <a:srgbClr val="FBF1F2"/>
              </a:solidFill>
              <a:latin typeface="Clear sans" panose="020B0604020202020204" charset="0"/>
              <a:ea typeface="Clear Sans"/>
              <a:cs typeface="Clear sans" panose="020B0604020202020204" charset="0"/>
              <a:sym typeface="Clear Sans"/>
            </a:endParaRPr>
          </a:p>
          <a:p>
            <a:pPr marL="453390" lvl="1" indent="-226695">
              <a:lnSpc>
                <a:spcPts val="2940"/>
              </a:lnSpc>
              <a:buFont typeface="Arial"/>
              <a:buChar char="•"/>
            </a:pPr>
            <a:r>
              <a:rPr lang="en-US" sz="1400" dirty="0">
                <a:solidFill>
                  <a:srgbClr val="FBF1F2"/>
                </a:solidFill>
                <a:latin typeface="Clear sans" panose="020B0604020202020204" charset="0"/>
                <a:ea typeface="Clear Sans"/>
                <a:cs typeface="Clear sans" panose="020B0604020202020204" charset="0"/>
                <a:sym typeface="Clear Sans"/>
              </a:rPr>
              <a:t>Visualized data using graphs and </a:t>
            </a:r>
            <a:r>
              <a:rPr lang="en-US" sz="1400" dirty="0" smtClean="0">
                <a:solidFill>
                  <a:srgbClr val="FBF1F2"/>
                </a:solidFill>
                <a:latin typeface="Clear sans" panose="020B0604020202020204" charset="0"/>
                <a:ea typeface="Clear Sans"/>
                <a:cs typeface="Clear sans" panose="020B0604020202020204" charset="0"/>
                <a:sym typeface="Clear Sans"/>
              </a:rPr>
              <a:t>charts.</a:t>
            </a:r>
            <a:endParaRPr lang="en-US" sz="1400" dirty="0">
              <a:solidFill>
                <a:srgbClr val="FBF1F2"/>
              </a:solidFill>
              <a:latin typeface="Clear sans" panose="020B0604020202020204" charset="0"/>
              <a:ea typeface="Clear Sans"/>
              <a:cs typeface="Clear sans" panose="020B0604020202020204" charset="0"/>
              <a:sym typeface="Clear Sans"/>
            </a:endParaRPr>
          </a:p>
          <a:p>
            <a:pPr marL="453390" lvl="1" indent="-226695">
              <a:lnSpc>
                <a:spcPts val="2940"/>
              </a:lnSpc>
              <a:buFont typeface="Arial"/>
              <a:buChar char="•"/>
            </a:pPr>
            <a:r>
              <a:rPr lang="en-US" sz="1400" dirty="0">
                <a:solidFill>
                  <a:srgbClr val="FBF1F2"/>
                </a:solidFill>
                <a:latin typeface="Clear sans" panose="020B0604020202020204" charset="0"/>
                <a:ea typeface="Clear Sans"/>
                <a:cs typeface="Clear sans" panose="020B0604020202020204" charset="0"/>
                <a:sym typeface="Clear Sans"/>
              </a:rPr>
              <a:t>Highlighted outliers and anomalies </a:t>
            </a:r>
            <a:r>
              <a:rPr lang="en-US" sz="1400" dirty="0" smtClean="0">
                <a:solidFill>
                  <a:srgbClr val="FBF1F2"/>
                </a:solidFill>
                <a:latin typeface="Clear sans" panose="020B0604020202020204" charset="0"/>
                <a:ea typeface="Clear Sans"/>
                <a:cs typeface="Clear sans" panose="020B0604020202020204" charset="0"/>
                <a:sym typeface="Clear Sans"/>
              </a:rPr>
              <a:t>present.</a:t>
            </a:r>
            <a:endParaRPr lang="en-US" sz="1400" dirty="0">
              <a:solidFill>
                <a:srgbClr val="FBF1F2"/>
              </a:solidFill>
              <a:latin typeface="Clear sans" panose="020B0604020202020204" charset="0"/>
              <a:ea typeface="Clear Sans"/>
              <a:cs typeface="Clear sans" panose="020B0604020202020204" charset="0"/>
              <a:sym typeface="Clear Sans"/>
            </a:endParaRPr>
          </a:p>
          <a:p>
            <a:pPr marL="453390" lvl="1" indent="-226695">
              <a:lnSpc>
                <a:spcPts val="2940"/>
              </a:lnSpc>
              <a:buFont typeface="Arial"/>
              <a:buChar char="•"/>
            </a:pPr>
            <a:r>
              <a:rPr lang="en-US" sz="1400" dirty="0">
                <a:solidFill>
                  <a:srgbClr val="FBF1F2"/>
                </a:solidFill>
                <a:latin typeface="Clear sans" panose="020B0604020202020204" charset="0"/>
                <a:ea typeface="Clear Sans"/>
                <a:cs typeface="Clear sans" panose="020B0604020202020204" charset="0"/>
                <a:sym typeface="Clear Sans"/>
              </a:rPr>
              <a:t>Summarized statistical findings for </a:t>
            </a:r>
            <a:r>
              <a:rPr lang="en-US" sz="1400" dirty="0" smtClean="0">
                <a:solidFill>
                  <a:srgbClr val="FBF1F2"/>
                </a:solidFill>
                <a:latin typeface="Clear sans" panose="020B0604020202020204" charset="0"/>
                <a:ea typeface="Clear Sans"/>
                <a:cs typeface="Clear sans" panose="020B0604020202020204" charset="0"/>
                <a:sym typeface="Clear Sans"/>
              </a:rPr>
              <a:t>clarity.</a:t>
            </a:r>
            <a:endParaRPr lang="en-US" sz="1400" dirty="0">
              <a:solidFill>
                <a:srgbClr val="FBF1F2"/>
              </a:solidFill>
              <a:latin typeface="Clear sans" panose="020B0604020202020204" charset="0"/>
              <a:ea typeface="Clear Sans"/>
              <a:cs typeface="Clear sans" panose="020B0604020202020204" charset="0"/>
              <a:sym typeface="Clear Sans"/>
            </a:endParaRPr>
          </a:p>
          <a:p>
            <a:endParaRPr lang="en-US" dirty="0"/>
          </a:p>
          <a:p>
            <a:endParaRPr lang="en-IN" dirty="0"/>
          </a:p>
        </p:txBody>
      </p:sp>
      <p:pic>
        <p:nvPicPr>
          <p:cNvPr id="6" name="Picture 5"/>
          <p:cNvPicPr>
            <a:picLocks noChangeAspect="1"/>
          </p:cNvPicPr>
          <p:nvPr/>
        </p:nvPicPr>
        <p:blipFill>
          <a:blip r:embed="rId2"/>
          <a:stretch>
            <a:fillRect/>
          </a:stretch>
        </p:blipFill>
        <p:spPr>
          <a:xfrm>
            <a:off x="8617616" y="1589517"/>
            <a:ext cx="2585919" cy="2170633"/>
          </a:xfrm>
          <a:prstGeom prst="rect">
            <a:avLst/>
          </a:prstGeom>
        </p:spPr>
      </p:pic>
      <p:pic>
        <p:nvPicPr>
          <p:cNvPr id="7" name="Picture 6"/>
          <p:cNvPicPr>
            <a:picLocks noChangeAspect="1"/>
          </p:cNvPicPr>
          <p:nvPr/>
        </p:nvPicPr>
        <p:blipFill>
          <a:blip r:embed="rId3"/>
          <a:stretch>
            <a:fillRect/>
          </a:stretch>
        </p:blipFill>
        <p:spPr>
          <a:xfrm>
            <a:off x="4898051" y="1589516"/>
            <a:ext cx="3361961" cy="2166497"/>
          </a:xfrm>
          <a:prstGeom prst="rect">
            <a:avLst/>
          </a:prstGeom>
        </p:spPr>
      </p:pic>
      <p:pic>
        <p:nvPicPr>
          <p:cNvPr id="8" name="Picture 7"/>
          <p:cNvPicPr>
            <a:picLocks noChangeAspect="1"/>
          </p:cNvPicPr>
          <p:nvPr/>
        </p:nvPicPr>
        <p:blipFill>
          <a:blip r:embed="rId4"/>
          <a:stretch>
            <a:fillRect/>
          </a:stretch>
        </p:blipFill>
        <p:spPr>
          <a:xfrm>
            <a:off x="1068224" y="4137116"/>
            <a:ext cx="4230445" cy="2011016"/>
          </a:xfrm>
          <a:prstGeom prst="rect">
            <a:avLst/>
          </a:prstGeom>
        </p:spPr>
      </p:pic>
      <p:pic>
        <p:nvPicPr>
          <p:cNvPr id="9" name="Picture 8"/>
          <p:cNvPicPr>
            <a:picLocks noChangeAspect="1"/>
          </p:cNvPicPr>
          <p:nvPr/>
        </p:nvPicPr>
        <p:blipFill>
          <a:blip r:embed="rId5"/>
          <a:stretch>
            <a:fillRect/>
          </a:stretch>
        </p:blipFill>
        <p:spPr>
          <a:xfrm>
            <a:off x="6096000" y="4127618"/>
            <a:ext cx="4294635" cy="2011968"/>
          </a:xfrm>
          <a:prstGeom prst="rect">
            <a:avLst/>
          </a:prstGeom>
        </p:spPr>
      </p:pic>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875C19A-1AAE-476A-A316-A2CF92D763D3}"/>
              </a:ext>
            </a:extLst>
          </p:cNvPr>
          <p:cNvSpPr>
            <a:spLocks noGrp="1"/>
          </p:cNvSpPr>
          <p:nvPr>
            <p:ph type="title"/>
          </p:nvPr>
        </p:nvSpPr>
        <p:spPr>
          <a:xfrm>
            <a:off x="444500" y="542925"/>
            <a:ext cx="11214100" cy="978729"/>
          </a:xfrm>
        </p:spPr>
        <p:txBody>
          <a:bodyPr/>
          <a:lstStyle/>
          <a:p>
            <a:r>
              <a:rPr lang="en-US" dirty="0"/>
              <a:t>MODEL 1 : Logistic Regression</a:t>
            </a:r>
            <a:br>
              <a:rPr lang="en-US" dirty="0"/>
            </a:br>
            <a:endParaRPr lang="en-US" dirty="0"/>
          </a:p>
        </p:txBody>
      </p:sp>
      <p:sp>
        <p:nvSpPr>
          <p:cNvPr id="10" name="Text Placeholder 9">
            <a:extLst>
              <a:ext uri="{FF2B5EF4-FFF2-40B4-BE49-F238E27FC236}">
                <a16:creationId xmlns:a16="http://schemas.microsoft.com/office/drawing/2014/main" xmlns="" id="{EF2BC084-E6DB-4DE7-B309-042A85EBA700}"/>
              </a:ext>
            </a:extLst>
          </p:cNvPr>
          <p:cNvSpPr>
            <a:spLocks noGrp="1"/>
          </p:cNvSpPr>
          <p:nvPr>
            <p:ph type="body" sz="quarter" idx="13"/>
          </p:nvPr>
        </p:nvSpPr>
        <p:spPr>
          <a:xfrm>
            <a:off x="533400" y="1215187"/>
            <a:ext cx="6648509" cy="4093243"/>
          </a:xfrm>
        </p:spPr>
        <p:txBody>
          <a:bodyPr/>
          <a:lstStyle/>
          <a:p>
            <a:pPr marL="0" indent="0" algn="just">
              <a:buNone/>
            </a:pPr>
            <a:r>
              <a:rPr lang="en-US" sz="1400" dirty="0"/>
              <a:t>Logistic Regression Base Accuracy: 1.0</a:t>
            </a:r>
          </a:p>
          <a:p>
            <a:pPr marL="0" indent="0" algn="just">
              <a:buNone/>
            </a:pPr>
            <a:r>
              <a:rPr lang="en-US" sz="1400" dirty="0"/>
              <a:t>Logistic Regression Seasonality Accuracy: </a:t>
            </a:r>
            <a:r>
              <a:rPr lang="en-US" sz="1400" dirty="0" smtClean="0"/>
              <a:t>1.0</a:t>
            </a:r>
            <a:endParaRPr lang="en-US" sz="1400" dirty="0"/>
          </a:p>
          <a:p>
            <a:pPr marL="0" indent="0" algn="just">
              <a:buNone/>
            </a:pPr>
            <a:r>
              <a:rPr lang="en-US" sz="1400" dirty="0"/>
              <a:t>Overall Conclusion Logistic Regression is an ideal classifier for this problem, achieving 100% accuracy. Similar to the Naive Bayes results, this performance suggests that the underlying relationship between the input features and the target class is simple and highly distinct. The Base LR model is the most parsimonious choice due to its perfect performance with fewer features.</a:t>
            </a:r>
          </a:p>
          <a:p>
            <a:pPr algn="just"/>
            <a:endParaRPr lang="en-US" dirty="0"/>
          </a:p>
        </p:txBody>
      </p:sp>
      <p:sp>
        <p:nvSpPr>
          <p:cNvPr id="2" name="Slide Number Placeholder 1">
            <a:extLst>
              <a:ext uri="{FF2B5EF4-FFF2-40B4-BE49-F238E27FC236}">
                <a16:creationId xmlns:a16="http://schemas.microsoft.com/office/drawing/2014/main" xmlns=""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pic>
        <p:nvPicPr>
          <p:cNvPr id="3" name="Picture 2"/>
          <p:cNvPicPr>
            <a:picLocks noChangeAspect="1"/>
          </p:cNvPicPr>
          <p:nvPr/>
        </p:nvPicPr>
        <p:blipFill>
          <a:blip r:embed="rId2"/>
          <a:stretch>
            <a:fillRect/>
          </a:stretch>
        </p:blipFill>
        <p:spPr>
          <a:xfrm>
            <a:off x="6096000" y="3429000"/>
            <a:ext cx="3183266" cy="2723077"/>
          </a:xfrm>
          <a:prstGeom prst="rect">
            <a:avLst/>
          </a:prstGeom>
        </p:spPr>
      </p:pic>
      <p:pic>
        <p:nvPicPr>
          <p:cNvPr id="4" name="Picture 3"/>
          <p:cNvPicPr>
            <a:picLocks noChangeAspect="1"/>
          </p:cNvPicPr>
          <p:nvPr/>
        </p:nvPicPr>
        <p:blipFill>
          <a:blip r:embed="rId3"/>
          <a:stretch>
            <a:fillRect/>
          </a:stretch>
        </p:blipFill>
        <p:spPr>
          <a:xfrm>
            <a:off x="750906" y="3429000"/>
            <a:ext cx="3163066" cy="2752802"/>
          </a:xfrm>
          <a:prstGeom prst="rect">
            <a:avLst/>
          </a:prstGeom>
        </p:spPr>
      </p:pic>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875C19A-1AAE-476A-A316-A2CF92D763D3}"/>
              </a:ext>
            </a:extLst>
          </p:cNvPr>
          <p:cNvSpPr>
            <a:spLocks noGrp="1"/>
          </p:cNvSpPr>
          <p:nvPr>
            <p:ph type="title"/>
          </p:nvPr>
        </p:nvSpPr>
        <p:spPr>
          <a:xfrm>
            <a:off x="444500" y="542925"/>
            <a:ext cx="11214100" cy="713307"/>
          </a:xfrm>
        </p:spPr>
        <p:txBody>
          <a:bodyPr/>
          <a:lstStyle/>
          <a:p>
            <a:pPr lvl="0"/>
            <a:r>
              <a:rPr lang="en-US" dirty="0"/>
              <a:t>MODEL </a:t>
            </a:r>
            <a:r>
              <a:rPr lang="en-US" dirty="0" smtClean="0"/>
              <a:t>2 </a:t>
            </a:r>
            <a:r>
              <a:rPr lang="en-US" dirty="0"/>
              <a:t>: </a:t>
            </a:r>
            <a:r>
              <a:rPr lang="en-US" spc="-139" dirty="0">
                <a:solidFill>
                  <a:srgbClr val="FBF1F2"/>
                </a:solidFill>
                <a:latin typeface="Tenor Sans"/>
                <a:ea typeface="Tenor Sans"/>
                <a:cs typeface="Tenor Sans"/>
                <a:sym typeface="Tenor Sans"/>
              </a:rPr>
              <a:t>K-Means Clustering </a:t>
            </a:r>
            <a:r>
              <a:rPr lang="en-US" dirty="0"/>
              <a:t/>
            </a:r>
            <a:br>
              <a:rPr lang="en-US" dirty="0"/>
            </a:br>
            <a:endParaRPr lang="en-US" dirty="0"/>
          </a:p>
        </p:txBody>
      </p:sp>
      <p:sp>
        <p:nvSpPr>
          <p:cNvPr id="10" name="Text Placeholder 9">
            <a:extLst>
              <a:ext uri="{FF2B5EF4-FFF2-40B4-BE49-F238E27FC236}">
                <a16:creationId xmlns:a16="http://schemas.microsoft.com/office/drawing/2014/main" xmlns="" id="{EF2BC084-E6DB-4DE7-B309-042A85EBA700}"/>
              </a:ext>
            </a:extLst>
          </p:cNvPr>
          <p:cNvSpPr>
            <a:spLocks noGrp="1"/>
          </p:cNvSpPr>
          <p:nvPr>
            <p:ph type="body" sz="quarter" idx="13"/>
          </p:nvPr>
        </p:nvSpPr>
        <p:spPr>
          <a:xfrm>
            <a:off x="533400" y="1232279"/>
            <a:ext cx="6627976" cy="4093243"/>
          </a:xfrm>
        </p:spPr>
        <p:txBody>
          <a:bodyPr/>
          <a:lstStyle/>
          <a:p>
            <a:pPr marL="0" indent="0" algn="just">
              <a:buNone/>
            </a:pPr>
            <a:r>
              <a:rPr lang="en-US" sz="1400" dirty="0" smtClean="0"/>
              <a:t>K-Means </a:t>
            </a:r>
            <a:r>
              <a:rPr lang="en-US" sz="1400" dirty="0"/>
              <a:t>Clustering is an unsupervised machine learning algorithm that helps group data points into clusters based on their inherent similarity. Unlike supervised learning, where we train models using labeled data, K-Means is used when we have data that is not labeled and the goal is to uncover hidden patterns or structures. For example, an online store can use K-Means to segment customers into groups like "Budget Shoppers," "Frequent Buyers," and "Big Spenders" based on their purchase history</a:t>
            </a:r>
            <a:endParaRPr lang="en-US" sz="1400" dirty="0"/>
          </a:p>
        </p:txBody>
      </p:sp>
      <p:sp>
        <p:nvSpPr>
          <p:cNvPr id="2" name="Slide Number Placeholder 1">
            <a:extLst>
              <a:ext uri="{FF2B5EF4-FFF2-40B4-BE49-F238E27FC236}">
                <a16:creationId xmlns:a16="http://schemas.microsoft.com/office/drawing/2014/main" xmlns="" id="{BE9800F6-D571-48C4-8466-12AA1ADB6599}"/>
              </a:ext>
            </a:extLst>
          </p:cNvPr>
          <p:cNvSpPr>
            <a:spLocks noGrp="1"/>
          </p:cNvSpPr>
          <p:nvPr>
            <p:ph type="sldNum" sz="quarter" idx="12"/>
          </p:nvPr>
        </p:nvSpPr>
        <p:spPr/>
        <p:txBody>
          <a:bodyPr/>
          <a:lstStyle/>
          <a:p>
            <a:fld id="{C263D6C4-4840-40CC-AC84-17E24B3B7BDE}" type="slidenum">
              <a:rPr lang="en-US" smtClean="0"/>
              <a:pPr/>
              <a:t>5</a:t>
            </a:fld>
            <a:endParaRPr lang="en-US" dirty="0"/>
          </a:p>
        </p:txBody>
      </p:sp>
      <p:pic>
        <p:nvPicPr>
          <p:cNvPr id="3" name="Picture 2"/>
          <p:cNvPicPr>
            <a:picLocks noChangeAspect="1"/>
          </p:cNvPicPr>
          <p:nvPr/>
        </p:nvPicPr>
        <p:blipFill>
          <a:blip r:embed="rId2"/>
          <a:stretch>
            <a:fillRect/>
          </a:stretch>
        </p:blipFill>
        <p:spPr>
          <a:xfrm>
            <a:off x="533400" y="3429000"/>
            <a:ext cx="3568581" cy="2895600"/>
          </a:xfrm>
          <a:prstGeom prst="rect">
            <a:avLst/>
          </a:prstGeom>
        </p:spPr>
      </p:pic>
      <p:pic>
        <p:nvPicPr>
          <p:cNvPr id="4" name="Picture 3"/>
          <p:cNvPicPr>
            <a:picLocks noChangeAspect="1"/>
          </p:cNvPicPr>
          <p:nvPr/>
        </p:nvPicPr>
        <p:blipFill>
          <a:blip r:embed="rId3"/>
          <a:stretch>
            <a:fillRect/>
          </a:stretch>
        </p:blipFill>
        <p:spPr>
          <a:xfrm>
            <a:off x="6096000" y="3429000"/>
            <a:ext cx="3586385" cy="2895600"/>
          </a:xfrm>
          <a:prstGeom prst="rect">
            <a:avLst/>
          </a:prstGeom>
        </p:spPr>
      </p:pic>
    </p:spTree>
    <p:extLst>
      <p:ext uri="{BB962C8B-B14F-4D97-AF65-F5344CB8AC3E}">
        <p14:creationId xmlns:p14="http://schemas.microsoft.com/office/powerpoint/2010/main" val="13315496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875C19A-1AAE-476A-A316-A2CF92D763D3}"/>
              </a:ext>
            </a:extLst>
          </p:cNvPr>
          <p:cNvSpPr>
            <a:spLocks noGrp="1"/>
          </p:cNvSpPr>
          <p:nvPr>
            <p:ph type="title"/>
          </p:nvPr>
        </p:nvSpPr>
        <p:spPr>
          <a:xfrm>
            <a:off x="444500" y="542925"/>
            <a:ext cx="11214100" cy="535531"/>
          </a:xfrm>
        </p:spPr>
        <p:txBody>
          <a:bodyPr/>
          <a:lstStyle/>
          <a:p>
            <a:r>
              <a:rPr lang="en-US" dirty="0"/>
              <a:t>MODEL 3 : KNN </a:t>
            </a:r>
            <a:r>
              <a:rPr lang="en-US" dirty="0" smtClean="0"/>
              <a:t>Classifier</a:t>
            </a:r>
            <a:endParaRPr lang="en-US" dirty="0"/>
          </a:p>
        </p:txBody>
      </p:sp>
      <p:sp>
        <p:nvSpPr>
          <p:cNvPr id="10" name="Text Placeholder 9">
            <a:extLst>
              <a:ext uri="{FF2B5EF4-FFF2-40B4-BE49-F238E27FC236}">
                <a16:creationId xmlns:a16="http://schemas.microsoft.com/office/drawing/2014/main" xmlns="" id="{EF2BC084-E6DB-4DE7-B309-042A85EBA700}"/>
              </a:ext>
            </a:extLst>
          </p:cNvPr>
          <p:cNvSpPr>
            <a:spLocks noGrp="1"/>
          </p:cNvSpPr>
          <p:nvPr>
            <p:ph type="body" sz="quarter" idx="13"/>
          </p:nvPr>
        </p:nvSpPr>
        <p:spPr>
          <a:xfrm>
            <a:off x="533400" y="1138274"/>
            <a:ext cx="6718300" cy="4093243"/>
          </a:xfrm>
        </p:spPr>
        <p:txBody>
          <a:bodyPr/>
          <a:lstStyle/>
          <a:p>
            <a:pPr marL="0" indent="0" algn="just">
              <a:buNone/>
            </a:pPr>
            <a:r>
              <a:rPr lang="en-US" dirty="0"/>
              <a:t>KNN Base Accuracy: 0.829</a:t>
            </a:r>
          </a:p>
          <a:p>
            <a:pPr marL="0" indent="0" algn="just">
              <a:buNone/>
            </a:pPr>
            <a:r>
              <a:rPr lang="en-US" dirty="0"/>
              <a:t>KNN Seasonality Accuracy: 0.829</a:t>
            </a:r>
          </a:p>
          <a:p>
            <a:pPr marL="0" indent="0" algn="just">
              <a:buNone/>
            </a:pPr>
            <a:r>
              <a:rPr lang="en-US" dirty="0" smtClean="0"/>
              <a:t>Summary </a:t>
            </a:r>
            <a:r>
              <a:rPr lang="en-US" dirty="0"/>
              <a:t>The KNN models are reasonably accurate (82.9%) and perform consistently well across both classes (Recall ≈ 83.3% for Class 0 and 82.5% for Class 1). Crucially, the analysis reveals that seasonality features did not add predictive value to the base KNN model, suggesting that the spatial/locational features alone are sufficient for this level of classification performance. </a:t>
            </a:r>
          </a:p>
          <a:p>
            <a:pPr marL="0" indent="0" algn="just">
              <a:buNone/>
            </a:pPr>
            <a:endParaRPr lang="en-US" dirty="0"/>
          </a:p>
        </p:txBody>
      </p:sp>
      <p:sp>
        <p:nvSpPr>
          <p:cNvPr id="2" name="Slide Number Placeholder 1">
            <a:extLst>
              <a:ext uri="{FF2B5EF4-FFF2-40B4-BE49-F238E27FC236}">
                <a16:creationId xmlns:a16="http://schemas.microsoft.com/office/drawing/2014/main" xmlns="" id="{BE9800F6-D571-48C4-8466-12AA1ADB6599}"/>
              </a:ext>
            </a:extLst>
          </p:cNvPr>
          <p:cNvSpPr>
            <a:spLocks noGrp="1"/>
          </p:cNvSpPr>
          <p:nvPr>
            <p:ph type="sldNum" sz="quarter" idx="12"/>
          </p:nvPr>
        </p:nvSpPr>
        <p:spPr/>
        <p:txBody>
          <a:bodyPr/>
          <a:lstStyle/>
          <a:p>
            <a:fld id="{C263D6C4-4840-40CC-AC84-17E24B3B7BDE}" type="slidenum">
              <a:rPr lang="en-US" smtClean="0"/>
              <a:pPr/>
              <a:t>6</a:t>
            </a:fld>
            <a:endParaRPr lang="en-US" dirty="0"/>
          </a:p>
        </p:txBody>
      </p:sp>
      <p:pic>
        <p:nvPicPr>
          <p:cNvPr id="3" name="Picture 2"/>
          <p:cNvPicPr>
            <a:picLocks noChangeAspect="1"/>
          </p:cNvPicPr>
          <p:nvPr/>
        </p:nvPicPr>
        <p:blipFill>
          <a:blip r:embed="rId2"/>
          <a:stretch>
            <a:fillRect/>
          </a:stretch>
        </p:blipFill>
        <p:spPr>
          <a:xfrm>
            <a:off x="533400" y="3529412"/>
            <a:ext cx="3166929" cy="2800835"/>
          </a:xfrm>
          <a:prstGeom prst="rect">
            <a:avLst/>
          </a:prstGeom>
        </p:spPr>
      </p:pic>
      <p:pic>
        <p:nvPicPr>
          <p:cNvPr id="4" name="Picture 3"/>
          <p:cNvPicPr>
            <a:picLocks noChangeAspect="1"/>
          </p:cNvPicPr>
          <p:nvPr/>
        </p:nvPicPr>
        <p:blipFill>
          <a:blip r:embed="rId3"/>
          <a:stretch>
            <a:fillRect/>
          </a:stretch>
        </p:blipFill>
        <p:spPr>
          <a:xfrm>
            <a:off x="6096000" y="3523004"/>
            <a:ext cx="3056546" cy="2801596"/>
          </a:xfrm>
          <a:prstGeom prst="rect">
            <a:avLst/>
          </a:prstGeom>
        </p:spPr>
      </p:pic>
    </p:spTree>
    <p:extLst>
      <p:ext uri="{BB962C8B-B14F-4D97-AF65-F5344CB8AC3E}">
        <p14:creationId xmlns:p14="http://schemas.microsoft.com/office/powerpoint/2010/main" val="8541383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875C19A-1AAE-476A-A316-A2CF92D763D3}"/>
              </a:ext>
            </a:extLst>
          </p:cNvPr>
          <p:cNvSpPr>
            <a:spLocks noGrp="1"/>
          </p:cNvSpPr>
          <p:nvPr>
            <p:ph type="title"/>
          </p:nvPr>
        </p:nvSpPr>
        <p:spPr>
          <a:xfrm>
            <a:off x="444500" y="542925"/>
            <a:ext cx="11214100" cy="535531"/>
          </a:xfrm>
        </p:spPr>
        <p:txBody>
          <a:bodyPr/>
          <a:lstStyle/>
          <a:p>
            <a:r>
              <a:rPr lang="en-US" dirty="0" smtClean="0"/>
              <a:t>MODEL 4: </a:t>
            </a:r>
            <a:r>
              <a:rPr lang="en-US" spc="-139" dirty="0">
                <a:solidFill>
                  <a:srgbClr val="FBF1F2"/>
                </a:solidFill>
                <a:latin typeface="Tenor Sans"/>
                <a:ea typeface="Tenor Sans"/>
                <a:cs typeface="Tenor Sans"/>
                <a:sym typeface="Tenor Sans"/>
              </a:rPr>
              <a:t>Naive </a:t>
            </a:r>
            <a:r>
              <a:rPr lang="en-US" spc="-139" dirty="0" smtClean="0">
                <a:solidFill>
                  <a:srgbClr val="FBF1F2"/>
                </a:solidFill>
                <a:latin typeface="Tenor Sans"/>
                <a:ea typeface="Tenor Sans"/>
                <a:cs typeface="Tenor Sans"/>
                <a:sym typeface="Tenor Sans"/>
              </a:rPr>
              <a:t>Bayes</a:t>
            </a:r>
            <a:endParaRPr lang="en-US" dirty="0"/>
          </a:p>
        </p:txBody>
      </p:sp>
      <p:sp>
        <p:nvSpPr>
          <p:cNvPr id="10" name="Text Placeholder 9">
            <a:extLst>
              <a:ext uri="{FF2B5EF4-FFF2-40B4-BE49-F238E27FC236}">
                <a16:creationId xmlns:a16="http://schemas.microsoft.com/office/drawing/2014/main" xmlns="" id="{EF2BC084-E6DB-4DE7-B309-042A85EBA700}"/>
              </a:ext>
            </a:extLst>
          </p:cNvPr>
          <p:cNvSpPr>
            <a:spLocks noGrp="1"/>
          </p:cNvSpPr>
          <p:nvPr>
            <p:ph type="body" sz="quarter" idx="13"/>
          </p:nvPr>
        </p:nvSpPr>
        <p:spPr>
          <a:xfrm>
            <a:off x="533400" y="1189550"/>
            <a:ext cx="6718300" cy="4093243"/>
          </a:xfrm>
        </p:spPr>
        <p:txBody>
          <a:bodyPr/>
          <a:lstStyle/>
          <a:p>
            <a:pPr marL="0" indent="0" algn="just">
              <a:buNone/>
            </a:pPr>
            <a:r>
              <a:rPr lang="en-US" dirty="0"/>
              <a:t>Naive Bayes Base Accuracy: 1.0</a:t>
            </a:r>
          </a:p>
          <a:p>
            <a:pPr marL="0" indent="0" algn="just">
              <a:buNone/>
            </a:pPr>
            <a:r>
              <a:rPr lang="en-US" dirty="0"/>
              <a:t>Naive Bayes Seasonality Accuracy: 1.0</a:t>
            </a:r>
          </a:p>
          <a:p>
            <a:pPr marL="0" indent="0" algn="just">
              <a:buNone/>
            </a:pPr>
            <a:r>
              <a:rPr lang="en-US" dirty="0" smtClean="0"/>
              <a:t>Overall </a:t>
            </a:r>
            <a:r>
              <a:rPr lang="en-US" dirty="0"/>
              <a:t>Conclusion The Naive Bayes model is an ideal classifier for this problem, achieving 100% accuracy in distinguishing between the two classes. Given the perfect result, the simpler Base NB model is the most efficient choice, as the added complexity of seasonality features provides no benefit.</a:t>
            </a:r>
          </a:p>
        </p:txBody>
      </p:sp>
      <p:sp>
        <p:nvSpPr>
          <p:cNvPr id="2" name="Slide Number Placeholder 1">
            <a:extLst>
              <a:ext uri="{FF2B5EF4-FFF2-40B4-BE49-F238E27FC236}">
                <a16:creationId xmlns:a16="http://schemas.microsoft.com/office/drawing/2014/main" xmlns="" id="{BE9800F6-D571-48C4-8466-12AA1ADB6599}"/>
              </a:ext>
            </a:extLst>
          </p:cNvPr>
          <p:cNvSpPr>
            <a:spLocks noGrp="1"/>
          </p:cNvSpPr>
          <p:nvPr>
            <p:ph type="sldNum" sz="quarter" idx="12"/>
          </p:nvPr>
        </p:nvSpPr>
        <p:spPr/>
        <p:txBody>
          <a:bodyPr/>
          <a:lstStyle/>
          <a:p>
            <a:fld id="{C263D6C4-4840-40CC-AC84-17E24B3B7BDE}" type="slidenum">
              <a:rPr lang="en-US" smtClean="0"/>
              <a:pPr/>
              <a:t>7</a:t>
            </a:fld>
            <a:endParaRPr lang="en-US" dirty="0"/>
          </a:p>
        </p:txBody>
      </p:sp>
      <p:pic>
        <p:nvPicPr>
          <p:cNvPr id="3" name="Picture 2"/>
          <p:cNvPicPr>
            <a:picLocks noChangeAspect="1"/>
          </p:cNvPicPr>
          <p:nvPr/>
        </p:nvPicPr>
        <p:blipFill>
          <a:blip r:embed="rId2"/>
          <a:stretch>
            <a:fillRect/>
          </a:stretch>
        </p:blipFill>
        <p:spPr>
          <a:xfrm>
            <a:off x="6096000" y="3429000"/>
            <a:ext cx="3124912" cy="2896165"/>
          </a:xfrm>
          <a:prstGeom prst="rect">
            <a:avLst/>
          </a:prstGeom>
        </p:spPr>
      </p:pic>
      <p:pic>
        <p:nvPicPr>
          <p:cNvPr id="4" name="Picture 3"/>
          <p:cNvPicPr>
            <a:picLocks noChangeAspect="1"/>
          </p:cNvPicPr>
          <p:nvPr/>
        </p:nvPicPr>
        <p:blipFill>
          <a:blip r:embed="rId3"/>
          <a:stretch>
            <a:fillRect/>
          </a:stretch>
        </p:blipFill>
        <p:spPr>
          <a:xfrm>
            <a:off x="533400" y="3429000"/>
            <a:ext cx="3081471" cy="2882913"/>
          </a:xfrm>
          <a:prstGeom prst="rect">
            <a:avLst/>
          </a:prstGeom>
        </p:spPr>
      </p:pic>
    </p:spTree>
    <p:extLst>
      <p:ext uri="{BB962C8B-B14F-4D97-AF65-F5344CB8AC3E}">
        <p14:creationId xmlns:p14="http://schemas.microsoft.com/office/powerpoint/2010/main" val="30298378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875C19A-1AAE-476A-A316-A2CF92D763D3}"/>
              </a:ext>
            </a:extLst>
          </p:cNvPr>
          <p:cNvSpPr>
            <a:spLocks noGrp="1"/>
          </p:cNvSpPr>
          <p:nvPr>
            <p:ph type="title"/>
          </p:nvPr>
        </p:nvSpPr>
        <p:spPr>
          <a:xfrm>
            <a:off x="444500" y="542925"/>
            <a:ext cx="11214100" cy="535531"/>
          </a:xfrm>
        </p:spPr>
        <p:txBody>
          <a:bodyPr/>
          <a:lstStyle/>
          <a:p>
            <a:r>
              <a:rPr lang="en-US" dirty="0"/>
              <a:t>MODEL </a:t>
            </a:r>
            <a:r>
              <a:rPr lang="en-US" dirty="0" smtClean="0"/>
              <a:t>5 </a:t>
            </a:r>
            <a:r>
              <a:rPr lang="en-US" dirty="0"/>
              <a:t>: Support Vector </a:t>
            </a:r>
            <a:r>
              <a:rPr lang="en-US" dirty="0" smtClean="0"/>
              <a:t>Machine</a:t>
            </a:r>
            <a:endParaRPr lang="en-US" dirty="0"/>
          </a:p>
        </p:txBody>
      </p:sp>
      <p:sp>
        <p:nvSpPr>
          <p:cNvPr id="10" name="Text Placeholder 9">
            <a:extLst>
              <a:ext uri="{FF2B5EF4-FFF2-40B4-BE49-F238E27FC236}">
                <a16:creationId xmlns:a16="http://schemas.microsoft.com/office/drawing/2014/main" xmlns="" id="{EF2BC084-E6DB-4DE7-B309-042A85EBA700}"/>
              </a:ext>
            </a:extLst>
          </p:cNvPr>
          <p:cNvSpPr>
            <a:spLocks noGrp="1"/>
          </p:cNvSpPr>
          <p:nvPr>
            <p:ph type="body" sz="quarter" idx="13"/>
          </p:nvPr>
        </p:nvSpPr>
        <p:spPr>
          <a:xfrm>
            <a:off x="533400" y="1257916"/>
            <a:ext cx="6718300" cy="4093243"/>
          </a:xfrm>
        </p:spPr>
        <p:txBody>
          <a:bodyPr/>
          <a:lstStyle/>
          <a:p>
            <a:pPr marL="0" indent="0" algn="just">
              <a:buNone/>
            </a:pPr>
            <a:r>
              <a:rPr lang="en-US" dirty="0"/>
              <a:t>SVM Base Model Accuracy: 0.648</a:t>
            </a:r>
          </a:p>
          <a:p>
            <a:pPr marL="0" indent="0" algn="just">
              <a:buNone/>
            </a:pPr>
            <a:r>
              <a:rPr lang="en-US" dirty="0"/>
              <a:t>SVM Seasonality Model Accuracy: 0.629</a:t>
            </a:r>
          </a:p>
          <a:p>
            <a:pPr marL="0" indent="0" algn="just">
              <a:buNone/>
            </a:pPr>
            <a:r>
              <a:rPr lang="en-US" dirty="0" smtClean="0"/>
              <a:t>Summary </a:t>
            </a:r>
            <a:r>
              <a:rPr lang="en-US" dirty="0"/>
              <a:t>The SVM model is a poor classifier compared to the others tested (Logistic Regression, Naive Bayes), suggesting that the data is not easily separable by a fixed linear or polynomial boundary. Furthermore, the Base SVM is superior, confirming that the seasonality features are **detrimental to the SVM’s performance**.</a:t>
            </a:r>
          </a:p>
          <a:p>
            <a:pPr marL="0" indent="0" algn="just">
              <a:buNone/>
            </a:pPr>
            <a:endParaRPr lang="en-US" dirty="0"/>
          </a:p>
        </p:txBody>
      </p:sp>
      <p:sp>
        <p:nvSpPr>
          <p:cNvPr id="2" name="Slide Number Placeholder 1">
            <a:extLst>
              <a:ext uri="{FF2B5EF4-FFF2-40B4-BE49-F238E27FC236}">
                <a16:creationId xmlns:a16="http://schemas.microsoft.com/office/drawing/2014/main" xmlns="" id="{BE9800F6-D571-48C4-8466-12AA1ADB6599}"/>
              </a:ext>
            </a:extLst>
          </p:cNvPr>
          <p:cNvSpPr>
            <a:spLocks noGrp="1"/>
          </p:cNvSpPr>
          <p:nvPr>
            <p:ph type="sldNum" sz="quarter" idx="12"/>
          </p:nvPr>
        </p:nvSpPr>
        <p:spPr/>
        <p:txBody>
          <a:bodyPr/>
          <a:lstStyle/>
          <a:p>
            <a:fld id="{C263D6C4-4840-40CC-AC84-17E24B3B7BDE}" type="slidenum">
              <a:rPr lang="en-US" smtClean="0"/>
              <a:pPr/>
              <a:t>8</a:t>
            </a:fld>
            <a:endParaRPr lang="en-US" dirty="0"/>
          </a:p>
        </p:txBody>
      </p:sp>
      <p:pic>
        <p:nvPicPr>
          <p:cNvPr id="3" name="Picture 2"/>
          <p:cNvPicPr>
            <a:picLocks noChangeAspect="1"/>
          </p:cNvPicPr>
          <p:nvPr/>
        </p:nvPicPr>
        <p:blipFill>
          <a:blip r:embed="rId2"/>
          <a:stretch>
            <a:fillRect/>
          </a:stretch>
        </p:blipFill>
        <p:spPr>
          <a:xfrm>
            <a:off x="533399" y="3428999"/>
            <a:ext cx="3329299" cy="2863837"/>
          </a:xfrm>
          <a:prstGeom prst="rect">
            <a:avLst/>
          </a:prstGeom>
        </p:spPr>
      </p:pic>
      <p:pic>
        <p:nvPicPr>
          <p:cNvPr id="4" name="Picture 3"/>
          <p:cNvPicPr>
            <a:picLocks noChangeAspect="1"/>
          </p:cNvPicPr>
          <p:nvPr/>
        </p:nvPicPr>
        <p:blipFill>
          <a:blip r:embed="rId3"/>
          <a:stretch>
            <a:fillRect/>
          </a:stretch>
        </p:blipFill>
        <p:spPr>
          <a:xfrm>
            <a:off x="6095999" y="3429000"/>
            <a:ext cx="3443815" cy="2895600"/>
          </a:xfrm>
          <a:prstGeom prst="rect">
            <a:avLst/>
          </a:prstGeom>
        </p:spPr>
      </p:pic>
    </p:spTree>
    <p:extLst>
      <p:ext uri="{BB962C8B-B14F-4D97-AF65-F5344CB8AC3E}">
        <p14:creationId xmlns:p14="http://schemas.microsoft.com/office/powerpoint/2010/main" val="17635113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875C19A-1AAE-476A-A316-A2CF92D763D3}"/>
              </a:ext>
            </a:extLst>
          </p:cNvPr>
          <p:cNvSpPr>
            <a:spLocks noGrp="1"/>
          </p:cNvSpPr>
          <p:nvPr>
            <p:ph type="title"/>
          </p:nvPr>
        </p:nvSpPr>
        <p:spPr>
          <a:xfrm>
            <a:off x="444500" y="542925"/>
            <a:ext cx="11214100" cy="535531"/>
          </a:xfrm>
        </p:spPr>
        <p:txBody>
          <a:bodyPr/>
          <a:lstStyle/>
          <a:p>
            <a:pPr lvl="0"/>
            <a:r>
              <a:rPr lang="en-US" dirty="0"/>
              <a:t>MODEL 6</a:t>
            </a:r>
            <a:r>
              <a:rPr lang="en-US" dirty="0" smtClean="0"/>
              <a:t> </a:t>
            </a:r>
            <a:r>
              <a:rPr lang="en-US" dirty="0"/>
              <a:t>: </a:t>
            </a:r>
            <a:r>
              <a:rPr lang="en-US" spc="-139" dirty="0">
                <a:solidFill>
                  <a:srgbClr val="FBF1F2"/>
                </a:solidFill>
                <a:latin typeface="Tenor Sans"/>
                <a:ea typeface="Tenor Sans"/>
                <a:cs typeface="Tenor Sans"/>
                <a:sym typeface="Tenor Sans"/>
              </a:rPr>
              <a:t>Decision Trees </a:t>
            </a:r>
            <a:endParaRPr lang="en-US" dirty="0"/>
          </a:p>
        </p:txBody>
      </p:sp>
      <p:sp>
        <p:nvSpPr>
          <p:cNvPr id="10" name="Text Placeholder 9">
            <a:extLst>
              <a:ext uri="{FF2B5EF4-FFF2-40B4-BE49-F238E27FC236}">
                <a16:creationId xmlns:a16="http://schemas.microsoft.com/office/drawing/2014/main" xmlns="" id="{EF2BC084-E6DB-4DE7-B309-042A85EBA700}"/>
              </a:ext>
            </a:extLst>
          </p:cNvPr>
          <p:cNvSpPr>
            <a:spLocks noGrp="1"/>
          </p:cNvSpPr>
          <p:nvPr>
            <p:ph type="body" sz="quarter" idx="13"/>
          </p:nvPr>
        </p:nvSpPr>
        <p:spPr>
          <a:xfrm>
            <a:off x="533400" y="1240824"/>
            <a:ext cx="6718300" cy="4093243"/>
          </a:xfrm>
        </p:spPr>
        <p:txBody>
          <a:bodyPr/>
          <a:lstStyle/>
          <a:p>
            <a:pPr marL="0" indent="0" algn="just">
              <a:buNone/>
            </a:pPr>
            <a:r>
              <a:rPr lang="en-US" dirty="0" smtClean="0"/>
              <a:t>Decision Tree Base Model Accuracy: 1.0</a:t>
            </a:r>
          </a:p>
          <a:p>
            <a:pPr marL="0" indent="0" algn="just">
              <a:buNone/>
            </a:pPr>
            <a:r>
              <a:rPr lang="en-US" dirty="0" smtClean="0"/>
              <a:t>Decision Tree Seasonality Model Accuracy: 1.0</a:t>
            </a:r>
          </a:p>
          <a:p>
            <a:pPr marL="0" indent="0" algn="just">
              <a:buNone/>
            </a:pPr>
            <a:r>
              <a:rPr lang="en-US" dirty="0" smtClean="0"/>
              <a:t>The Decision Tree Model Is The Most Interpretable And Efficient Classifier Among The Perfect-scoring Models. Its Single-split Structure Demonstrates That The Binary Target Is Perfectly Determined By A Trivial Threshold On The Gap Feature. As Seen With Other Models, Seasonality Features Were Redundant. </a:t>
            </a:r>
          </a:p>
          <a:p>
            <a:pPr marL="0" indent="0">
              <a:buNone/>
            </a:pPr>
            <a:endParaRPr lang="en-US" dirty="0"/>
          </a:p>
          <a:p>
            <a:pPr marL="0" indent="0">
              <a:buNone/>
            </a:pPr>
            <a:endParaRPr lang="en-US" dirty="0"/>
          </a:p>
        </p:txBody>
      </p:sp>
      <p:sp>
        <p:nvSpPr>
          <p:cNvPr id="2" name="Slide Number Placeholder 1">
            <a:extLst>
              <a:ext uri="{FF2B5EF4-FFF2-40B4-BE49-F238E27FC236}">
                <a16:creationId xmlns:a16="http://schemas.microsoft.com/office/drawing/2014/main" xmlns="" id="{BE9800F6-D571-48C4-8466-12AA1ADB6599}"/>
              </a:ext>
            </a:extLst>
          </p:cNvPr>
          <p:cNvSpPr>
            <a:spLocks noGrp="1"/>
          </p:cNvSpPr>
          <p:nvPr>
            <p:ph type="sldNum" sz="quarter" idx="12"/>
          </p:nvPr>
        </p:nvSpPr>
        <p:spPr/>
        <p:txBody>
          <a:bodyPr/>
          <a:lstStyle/>
          <a:p>
            <a:fld id="{C263D6C4-4840-40CC-AC84-17E24B3B7BDE}" type="slidenum">
              <a:rPr lang="en-US" smtClean="0"/>
              <a:pPr/>
              <a:t>9</a:t>
            </a:fld>
            <a:endParaRPr lang="en-US" dirty="0"/>
          </a:p>
        </p:txBody>
      </p:sp>
      <p:pic>
        <p:nvPicPr>
          <p:cNvPr id="3" name="Picture 2"/>
          <p:cNvPicPr>
            <a:picLocks noChangeAspect="1"/>
          </p:cNvPicPr>
          <p:nvPr/>
        </p:nvPicPr>
        <p:blipFill>
          <a:blip r:embed="rId2"/>
          <a:stretch>
            <a:fillRect/>
          </a:stretch>
        </p:blipFill>
        <p:spPr>
          <a:xfrm>
            <a:off x="6096000" y="3429000"/>
            <a:ext cx="3376830" cy="2895600"/>
          </a:xfrm>
          <a:prstGeom prst="rect">
            <a:avLst/>
          </a:prstGeom>
        </p:spPr>
      </p:pic>
      <p:pic>
        <p:nvPicPr>
          <p:cNvPr id="4" name="Picture 3"/>
          <p:cNvPicPr>
            <a:picLocks noChangeAspect="1"/>
          </p:cNvPicPr>
          <p:nvPr/>
        </p:nvPicPr>
        <p:blipFill>
          <a:blip r:embed="rId3"/>
          <a:stretch>
            <a:fillRect/>
          </a:stretch>
        </p:blipFill>
        <p:spPr>
          <a:xfrm>
            <a:off x="533400" y="3429000"/>
            <a:ext cx="3423303" cy="2902093"/>
          </a:xfrm>
          <a:prstGeom prst="rect">
            <a:avLst/>
          </a:prstGeom>
        </p:spPr>
      </p:pic>
    </p:spTree>
    <p:extLst>
      <p:ext uri="{BB962C8B-B14F-4D97-AF65-F5344CB8AC3E}">
        <p14:creationId xmlns:p14="http://schemas.microsoft.com/office/powerpoint/2010/main" val="23107352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875C19A-1AAE-476A-A316-A2CF92D763D3}"/>
              </a:ext>
            </a:extLst>
          </p:cNvPr>
          <p:cNvSpPr>
            <a:spLocks noGrp="1"/>
          </p:cNvSpPr>
          <p:nvPr>
            <p:ph type="title"/>
          </p:nvPr>
        </p:nvSpPr>
        <p:spPr>
          <a:xfrm>
            <a:off x="444500" y="542925"/>
            <a:ext cx="11214100" cy="535531"/>
          </a:xfrm>
        </p:spPr>
        <p:txBody>
          <a:bodyPr/>
          <a:lstStyle/>
          <a:p>
            <a:pPr lvl="0"/>
            <a:r>
              <a:rPr lang="en-US" dirty="0"/>
              <a:t>MODEL </a:t>
            </a:r>
            <a:r>
              <a:rPr lang="en-US" dirty="0" smtClean="0"/>
              <a:t>7 : </a:t>
            </a:r>
            <a:r>
              <a:rPr lang="en-US" spc="-139" dirty="0">
                <a:solidFill>
                  <a:srgbClr val="FBF1F2"/>
                </a:solidFill>
                <a:latin typeface="Tenor Sans"/>
                <a:ea typeface="Tenor Sans"/>
                <a:cs typeface="Tenor Sans"/>
                <a:sym typeface="Tenor Sans"/>
              </a:rPr>
              <a:t>Random </a:t>
            </a:r>
            <a:r>
              <a:rPr lang="en-US" spc="-139" dirty="0" smtClean="0">
                <a:solidFill>
                  <a:srgbClr val="FBF1F2"/>
                </a:solidFill>
                <a:latin typeface="Tenor Sans"/>
                <a:ea typeface="Tenor Sans"/>
                <a:cs typeface="Tenor Sans"/>
                <a:sym typeface="Tenor Sans"/>
              </a:rPr>
              <a:t>Forest</a:t>
            </a:r>
            <a:endParaRPr lang="en-US" dirty="0"/>
          </a:p>
        </p:txBody>
      </p:sp>
      <p:sp>
        <p:nvSpPr>
          <p:cNvPr id="10" name="Text Placeholder 9">
            <a:extLst>
              <a:ext uri="{FF2B5EF4-FFF2-40B4-BE49-F238E27FC236}">
                <a16:creationId xmlns:a16="http://schemas.microsoft.com/office/drawing/2014/main" xmlns="" id="{EF2BC084-E6DB-4DE7-B309-042A85EBA700}"/>
              </a:ext>
            </a:extLst>
          </p:cNvPr>
          <p:cNvSpPr>
            <a:spLocks noGrp="1"/>
          </p:cNvSpPr>
          <p:nvPr>
            <p:ph type="body" sz="quarter" idx="13"/>
          </p:nvPr>
        </p:nvSpPr>
        <p:spPr>
          <a:xfrm>
            <a:off x="533400" y="1198095"/>
            <a:ext cx="6718300" cy="4093243"/>
          </a:xfrm>
        </p:spPr>
        <p:txBody>
          <a:bodyPr/>
          <a:lstStyle/>
          <a:p>
            <a:pPr marL="0" indent="0" algn="just">
              <a:buNone/>
            </a:pPr>
            <a:r>
              <a:rPr lang="en-US" dirty="0"/>
              <a:t>Random Forest Base Model Accuracy: 1.0</a:t>
            </a:r>
          </a:p>
          <a:p>
            <a:pPr marL="0" indent="0" algn="just">
              <a:buNone/>
            </a:pPr>
            <a:r>
              <a:rPr lang="en-US" dirty="0"/>
              <a:t>Random Forest Seasonality Model Accuracy: 1.0</a:t>
            </a:r>
          </a:p>
          <a:p>
            <a:pPr marL="0" indent="0" algn="just">
              <a:buNone/>
            </a:pPr>
            <a:r>
              <a:rPr lang="en-US" dirty="0" smtClean="0"/>
              <a:t>Overall </a:t>
            </a:r>
            <a:r>
              <a:rPr lang="en-US" dirty="0"/>
              <a:t>Conclusion The Random Forest classifier performed perfectly, confirming the results from other robust models. Since the Decision Tree achieved perfect performance with a single simple split on the gap feature, the Random Forest ensemble technique, while more complex, does not offer a predictive advantage here. Given the perfect scores, the Base RF model is the preferred choice for its simplicity over the Seasonality RF model. </a:t>
            </a:r>
          </a:p>
          <a:p>
            <a:pPr marL="0" indent="0" algn="just">
              <a:buNone/>
            </a:pPr>
            <a:endParaRPr lang="en-US" dirty="0"/>
          </a:p>
        </p:txBody>
      </p:sp>
      <p:sp>
        <p:nvSpPr>
          <p:cNvPr id="2" name="Slide Number Placeholder 1">
            <a:extLst>
              <a:ext uri="{FF2B5EF4-FFF2-40B4-BE49-F238E27FC236}">
                <a16:creationId xmlns:a16="http://schemas.microsoft.com/office/drawing/2014/main" xmlns="" id="{BE9800F6-D571-48C4-8466-12AA1ADB6599}"/>
              </a:ext>
            </a:extLst>
          </p:cNvPr>
          <p:cNvSpPr>
            <a:spLocks noGrp="1"/>
          </p:cNvSpPr>
          <p:nvPr>
            <p:ph type="sldNum" sz="quarter" idx="12"/>
          </p:nvPr>
        </p:nvSpPr>
        <p:spPr/>
        <p:txBody>
          <a:bodyPr/>
          <a:lstStyle/>
          <a:p>
            <a:fld id="{C263D6C4-4840-40CC-AC84-17E24B3B7BDE}" type="slidenum">
              <a:rPr lang="en-US" smtClean="0"/>
              <a:pPr/>
              <a:t>10</a:t>
            </a:fld>
            <a:endParaRPr lang="en-US" dirty="0"/>
          </a:p>
        </p:txBody>
      </p:sp>
      <p:pic>
        <p:nvPicPr>
          <p:cNvPr id="3" name="Picture 2"/>
          <p:cNvPicPr>
            <a:picLocks noChangeAspect="1"/>
          </p:cNvPicPr>
          <p:nvPr/>
        </p:nvPicPr>
        <p:blipFill>
          <a:blip r:embed="rId2"/>
          <a:stretch>
            <a:fillRect/>
          </a:stretch>
        </p:blipFill>
        <p:spPr>
          <a:xfrm>
            <a:off x="533400" y="3922568"/>
            <a:ext cx="3457486" cy="2402032"/>
          </a:xfrm>
          <a:prstGeom prst="rect">
            <a:avLst/>
          </a:prstGeom>
        </p:spPr>
      </p:pic>
      <p:pic>
        <p:nvPicPr>
          <p:cNvPr id="4" name="Picture 3"/>
          <p:cNvPicPr>
            <a:picLocks noChangeAspect="1"/>
          </p:cNvPicPr>
          <p:nvPr/>
        </p:nvPicPr>
        <p:blipFill>
          <a:blip r:embed="rId3"/>
          <a:stretch>
            <a:fillRect/>
          </a:stretch>
        </p:blipFill>
        <p:spPr>
          <a:xfrm>
            <a:off x="6096000" y="3812052"/>
            <a:ext cx="3186965" cy="2512547"/>
          </a:xfrm>
          <a:prstGeom prst="rect">
            <a:avLst/>
          </a:prstGeom>
        </p:spPr>
      </p:pic>
    </p:spTree>
    <p:extLst>
      <p:ext uri="{BB962C8B-B14F-4D97-AF65-F5344CB8AC3E}">
        <p14:creationId xmlns:p14="http://schemas.microsoft.com/office/powerpoint/2010/main" val="23655299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875C19A-1AAE-476A-A316-A2CF92D763D3}"/>
              </a:ext>
            </a:extLst>
          </p:cNvPr>
          <p:cNvSpPr>
            <a:spLocks noGrp="1"/>
          </p:cNvSpPr>
          <p:nvPr>
            <p:ph type="title"/>
          </p:nvPr>
        </p:nvSpPr>
        <p:spPr>
          <a:xfrm>
            <a:off x="444500" y="542925"/>
            <a:ext cx="11214100" cy="535531"/>
          </a:xfrm>
        </p:spPr>
        <p:txBody>
          <a:bodyPr/>
          <a:lstStyle/>
          <a:p>
            <a:pPr lvl="0"/>
            <a:r>
              <a:rPr lang="en-US" dirty="0"/>
              <a:t>MODEL </a:t>
            </a:r>
            <a:r>
              <a:rPr lang="en-US" dirty="0" smtClean="0"/>
              <a:t>8 </a:t>
            </a:r>
            <a:r>
              <a:rPr lang="en-US" dirty="0"/>
              <a:t>: </a:t>
            </a:r>
            <a:r>
              <a:rPr lang="en-US" spc="-139" dirty="0" err="1">
                <a:solidFill>
                  <a:srgbClr val="FBF1F2"/>
                </a:solidFill>
                <a:latin typeface="Tenor Sans"/>
                <a:ea typeface="Tenor Sans"/>
                <a:cs typeface="Tenor Sans"/>
                <a:sym typeface="Tenor Sans"/>
              </a:rPr>
              <a:t>XGBoost</a:t>
            </a:r>
            <a:r>
              <a:rPr lang="en-US" spc="-139" dirty="0">
                <a:solidFill>
                  <a:srgbClr val="FBF1F2"/>
                </a:solidFill>
                <a:latin typeface="Tenor Sans"/>
                <a:ea typeface="Tenor Sans"/>
                <a:cs typeface="Tenor Sans"/>
                <a:sym typeface="Tenor Sans"/>
              </a:rPr>
              <a:t> </a:t>
            </a:r>
            <a:r>
              <a:rPr lang="en-US" spc="-139" dirty="0" smtClean="0">
                <a:solidFill>
                  <a:srgbClr val="FBF1F2"/>
                </a:solidFill>
                <a:latin typeface="Tenor Sans"/>
                <a:ea typeface="Tenor Sans"/>
                <a:cs typeface="Tenor Sans"/>
                <a:sym typeface="Tenor Sans"/>
              </a:rPr>
              <a:t>Classifier</a:t>
            </a:r>
            <a:endParaRPr lang="en-US" dirty="0"/>
          </a:p>
        </p:txBody>
      </p:sp>
      <p:sp>
        <p:nvSpPr>
          <p:cNvPr id="10" name="Text Placeholder 9">
            <a:extLst>
              <a:ext uri="{FF2B5EF4-FFF2-40B4-BE49-F238E27FC236}">
                <a16:creationId xmlns:a16="http://schemas.microsoft.com/office/drawing/2014/main" xmlns="" id="{EF2BC084-E6DB-4DE7-B309-042A85EBA700}"/>
              </a:ext>
            </a:extLst>
          </p:cNvPr>
          <p:cNvSpPr>
            <a:spLocks noGrp="1"/>
          </p:cNvSpPr>
          <p:nvPr>
            <p:ph type="body" sz="quarter" idx="13"/>
          </p:nvPr>
        </p:nvSpPr>
        <p:spPr>
          <a:xfrm>
            <a:off x="533400" y="1240824"/>
            <a:ext cx="6718300" cy="4093243"/>
          </a:xfrm>
        </p:spPr>
        <p:txBody>
          <a:bodyPr/>
          <a:lstStyle/>
          <a:p>
            <a:pPr marL="0" indent="0" algn="just">
              <a:buNone/>
            </a:pPr>
            <a:r>
              <a:rPr lang="en-US" dirty="0" err="1"/>
              <a:t>XGBoost</a:t>
            </a:r>
            <a:r>
              <a:rPr lang="en-US" dirty="0"/>
              <a:t> Base Model Accuracy: 1.0</a:t>
            </a:r>
          </a:p>
          <a:p>
            <a:pPr marL="0" indent="0" algn="just">
              <a:buNone/>
            </a:pPr>
            <a:r>
              <a:rPr lang="en-US" dirty="0" err="1"/>
              <a:t>XGBoost</a:t>
            </a:r>
            <a:r>
              <a:rPr lang="en-US" dirty="0"/>
              <a:t> Seasonality Model Accuracy: 1.0</a:t>
            </a:r>
          </a:p>
          <a:p>
            <a:pPr marL="0" indent="0" algn="just">
              <a:buNone/>
            </a:pPr>
            <a:r>
              <a:rPr lang="en-US" dirty="0" smtClean="0"/>
              <a:t>Overall </a:t>
            </a:r>
            <a:r>
              <a:rPr lang="en-US" dirty="0"/>
              <a:t>Conclusion </a:t>
            </a:r>
            <a:r>
              <a:rPr lang="en-US" dirty="0" err="1"/>
              <a:t>XGBoost</a:t>
            </a:r>
            <a:r>
              <a:rPr lang="en-US" dirty="0"/>
              <a:t>, a powerful boosting ensemble, confirmed the perfect classification achieved by simpler models. Given that the Decision Tree achieved perfection with a single split, the highly complex structure of </a:t>
            </a:r>
            <a:r>
              <a:rPr lang="en-US" dirty="0" err="1"/>
              <a:t>XGBoost</a:t>
            </a:r>
            <a:r>
              <a:rPr lang="en-US" dirty="0"/>
              <a:t> is unnecessary for this problem. The Base </a:t>
            </a:r>
            <a:r>
              <a:rPr lang="en-US" dirty="0" err="1"/>
              <a:t>XGBoost</a:t>
            </a:r>
            <a:r>
              <a:rPr lang="en-US" dirty="0"/>
              <a:t> model is the preferred choice over the Seasonality version, as the added seasonal features provide no benefit. </a:t>
            </a:r>
          </a:p>
          <a:p>
            <a:pPr marL="0" indent="0" algn="just">
              <a:buNone/>
            </a:pPr>
            <a:endParaRPr lang="en-US" dirty="0"/>
          </a:p>
        </p:txBody>
      </p:sp>
      <p:sp>
        <p:nvSpPr>
          <p:cNvPr id="2" name="Slide Number Placeholder 1">
            <a:extLst>
              <a:ext uri="{FF2B5EF4-FFF2-40B4-BE49-F238E27FC236}">
                <a16:creationId xmlns:a16="http://schemas.microsoft.com/office/drawing/2014/main" xmlns="" id="{BE9800F6-D571-48C4-8466-12AA1ADB6599}"/>
              </a:ext>
            </a:extLst>
          </p:cNvPr>
          <p:cNvSpPr>
            <a:spLocks noGrp="1"/>
          </p:cNvSpPr>
          <p:nvPr>
            <p:ph type="sldNum" sz="quarter" idx="12"/>
          </p:nvPr>
        </p:nvSpPr>
        <p:spPr/>
        <p:txBody>
          <a:bodyPr/>
          <a:lstStyle/>
          <a:p>
            <a:fld id="{C263D6C4-4840-40CC-AC84-17E24B3B7BDE}" type="slidenum">
              <a:rPr lang="en-US" smtClean="0"/>
              <a:pPr/>
              <a:t>11</a:t>
            </a:fld>
            <a:endParaRPr lang="en-US" dirty="0"/>
          </a:p>
        </p:txBody>
      </p:sp>
      <p:pic>
        <p:nvPicPr>
          <p:cNvPr id="3" name="Picture 2"/>
          <p:cNvPicPr>
            <a:picLocks noChangeAspect="1"/>
          </p:cNvPicPr>
          <p:nvPr/>
        </p:nvPicPr>
        <p:blipFill>
          <a:blip r:embed="rId2"/>
          <a:stretch>
            <a:fillRect/>
          </a:stretch>
        </p:blipFill>
        <p:spPr>
          <a:xfrm>
            <a:off x="533400" y="3782882"/>
            <a:ext cx="3440394" cy="2541718"/>
          </a:xfrm>
          <a:prstGeom prst="rect">
            <a:avLst/>
          </a:prstGeom>
        </p:spPr>
      </p:pic>
      <p:pic>
        <p:nvPicPr>
          <p:cNvPr id="4" name="Picture 3"/>
          <p:cNvPicPr>
            <a:picLocks noChangeAspect="1"/>
          </p:cNvPicPr>
          <p:nvPr/>
        </p:nvPicPr>
        <p:blipFill>
          <a:blip r:embed="rId3"/>
          <a:stretch>
            <a:fillRect/>
          </a:stretch>
        </p:blipFill>
        <p:spPr>
          <a:xfrm>
            <a:off x="6096000" y="3729846"/>
            <a:ext cx="3463973" cy="2594754"/>
          </a:xfrm>
          <a:prstGeom prst="rect">
            <a:avLst/>
          </a:prstGeom>
        </p:spPr>
      </p:pic>
    </p:spTree>
    <p:extLst>
      <p:ext uri="{BB962C8B-B14F-4D97-AF65-F5344CB8AC3E}">
        <p14:creationId xmlns:p14="http://schemas.microsoft.com/office/powerpoint/2010/main" val="35551897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2BE5BF-9922-45FB-8F3F-4446D40A051B}"/>
              </a:ext>
            </a:extLst>
          </p:cNvPr>
          <p:cNvSpPr>
            <a:spLocks noGrp="1"/>
          </p:cNvSpPr>
          <p:nvPr>
            <p:ph type="ctrTitle"/>
          </p:nvPr>
        </p:nvSpPr>
        <p:spPr/>
        <p:txBody>
          <a:bodyPr/>
          <a:lstStyle/>
          <a:p>
            <a:r>
              <a:rPr lang="en-US" dirty="0"/>
              <a:t>Thank You 1</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documentManagement/types"/>
    <ds:schemaRef ds:uri="71af3243-3dd4-4a8d-8c0d-dd76da1f02a5"/>
    <ds:schemaRef ds:uri="http://purl.org/dc/terms/"/>
    <ds:schemaRef ds:uri="16c05727-aa75-4e4a-9b5f-8a80a1165891"/>
    <ds:schemaRef ds:uri="http://purl.org/dc/dcmitype/"/>
    <ds:schemaRef ds:uri="http://purl.org/dc/elements/1.1/"/>
    <ds:schemaRef ds:uri="http://www.w3.org/XML/1998/namespace"/>
    <ds:schemaRef ds:uri="http://schemas.openxmlformats.org/package/2006/metadata/core-properties"/>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794</Words>
  <Application>Microsoft Office PowerPoint</Application>
  <PresentationFormat>Widescreen</PresentationFormat>
  <Paragraphs>66</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Clear Sans</vt:lpstr>
      <vt:lpstr>Clear Sans</vt:lpstr>
      <vt:lpstr>Tahoma</vt:lpstr>
      <vt:lpstr>Tenor Sans</vt:lpstr>
      <vt:lpstr>Trade Gothic LT Pro</vt:lpstr>
      <vt:lpstr>Trebuchet MS</vt:lpstr>
      <vt:lpstr>Office Theme</vt:lpstr>
      <vt:lpstr>DATA SCIENCE PROJECT </vt:lpstr>
      <vt:lpstr>ABOUT DATASET </vt:lpstr>
      <vt:lpstr>INSIGHTS FROM EXPLORATORY DATA ANALYSIS</vt:lpstr>
      <vt:lpstr>MODEL 1 : Logistic Regression </vt:lpstr>
      <vt:lpstr>MODEL 2 : K-Means Clustering  </vt:lpstr>
      <vt:lpstr>MODEL 3 : KNN Classifier</vt:lpstr>
      <vt:lpstr>MODEL 4: Naive Bayes</vt:lpstr>
      <vt:lpstr>MODEL 5 : Support Vector Machine</vt:lpstr>
      <vt:lpstr>MODEL 6 : Decision Trees </vt:lpstr>
      <vt:lpstr>MODEL 7 : Random Forest</vt:lpstr>
      <vt:lpstr>MODEL 8 : XGBoost Classifier</vt:lpstr>
      <vt:lpstr>Thank You 1</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DS_FINAL PPT</dc:title>
  <dc:creator/>
  <cp:lastModifiedBy/>
  <cp:revision>1</cp:revision>
  <dcterms:created xsi:type="dcterms:W3CDTF">2025-10-31T16:39:15Z</dcterms:created>
  <dcterms:modified xsi:type="dcterms:W3CDTF">2025-10-31T18:13:50Z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